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5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Round 1 Transparency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u="sng" sz="1800">
                <a:solidFill>
                  <a:srgbClr val="0078D7"/>
                </a:solidFill>
              </a:defRPr>
            </a:pPr>
            <a:r>
              <a:t>ycc.yale.edu/uofc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Round 1 Overview</a:t>
            </a:r>
          </a:p>
        </p:txBody>
      </p:sp>
      <p:pic>
        <p:nvPicPr>
          <p:cNvPr id="4" name="Picture 3" descr="rub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9690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Number of Organizations Within Top 10 Categories</a:t>
            </a:r>
          </a:p>
        </p:txBody>
      </p:sp>
      <p:pic>
        <p:nvPicPr>
          <p:cNvPr id="4" name="Picture 3" descr="top_10_categories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669280" cy="396448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0" y="914400"/>
          <a:ext cx="25603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439"/>
                <a:gridCol w="853439"/>
                <a:gridCol w="853439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b="1" sz="1000"/>
                      </a:pPr>
                      <a:r>
                        <a:t>Organization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000"/>
                      </a:pPr>
                      <a:r>
                        <a:t>Number of Organizations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000"/>
                      </a:pPr>
                      <a:r>
                        <a:t>Percentage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Academic &amp; Professional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40.0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Politics, Civic Engagement, Debate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20.0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Environmental &amp; Sustainability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20.0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Performance &amp; 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Average Amount Requested/Awarded by Category</a:t>
            </a:r>
          </a:p>
        </p:txBody>
      </p:sp>
      <p:pic>
        <p:nvPicPr>
          <p:cNvPr id="4" name="Picture 3" descr="avg_requested_by_categor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5497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Amount Requested &amp; Awarded by Organization Age</a:t>
            </a:r>
          </a:p>
        </p:txBody>
      </p:sp>
      <p:pic>
        <p:nvPicPr>
          <p:cNvPr id="4" name="Picture 3" descr="age_group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4134565"/>
          </a:xfrm>
          <a:prstGeom prst="rect">
            <a:avLst/>
          </a:prstGeom>
        </p:spPr>
      </p:pic>
      <p:pic>
        <p:nvPicPr>
          <p:cNvPr id="5" name="Picture 4" descr="avg_req_award_by_age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4114800" cy="241227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4297680"/>
          <a:ext cx="411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000"/>
                      </a:pPr>
                      <a:r>
                        <a:t>Organization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000"/>
                      </a:pPr>
                      <a:r>
                        <a:t>Count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10+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2-5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5-10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46320" y="4297680"/>
          <a:ext cx="411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000"/>
                      </a:pPr>
                      <a:r>
                        <a:t>organization_age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000"/>
                      </a:pPr>
                      <a:r>
                        <a:t>amount_requested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000"/>
                      </a:pPr>
                      <a:r>
                        <a:t>amount_awarded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2-5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1500.0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5-10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5000.0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3000.0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10+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3500.0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2000.0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Amount Requested &amp; Awarded by Dwight Hall Group</a:t>
            </a:r>
          </a:p>
        </p:txBody>
      </p:sp>
      <p:pic>
        <p:nvPicPr>
          <p:cNvPr id="4" name="Picture 3" descr="dwight_hall_distribution_pi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114800" cy="4120171"/>
          </a:xfrm>
          <a:prstGeom prst="rect">
            <a:avLst/>
          </a:prstGeom>
        </p:spPr>
      </p:pic>
      <p:pic>
        <p:nvPicPr>
          <p:cNvPr id="5" name="Picture 4" descr="avg_req_award_dwight_hall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4114800" cy="2413105"/>
          </a:xfrm>
          <a:prstGeom prst="rect">
            <a:avLst/>
          </a:prstGeom>
        </p:spPr>
      </p:pic>
      <p:pic>
        <p:nvPicPr>
          <p:cNvPr id="6" name="Picture 5" descr="dwight_hall_distribution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4754880"/>
            <a:ext cx="4114800" cy="14288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Other Funding Sources</a:t>
            </a:r>
          </a:p>
        </p:txBody>
      </p:sp>
      <p:pic>
        <p:nvPicPr>
          <p:cNvPr id="4" name="Picture 3" descr="other_funding_sources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640080"/>
            <a:ext cx="5479246" cy="54864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14600" y="4754880"/>
          <a:ext cx="411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b="1" sz="1000"/>
                      </a:pPr>
                      <a:r>
                        <a:t>Has Other Funding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000"/>
                      </a:pPr>
                      <a:r>
                        <a:t>Count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Amount Requested &amp; Awarded vs Other Funding</a:t>
            </a:r>
          </a:p>
        </p:txBody>
      </p:sp>
      <p:pic>
        <p:nvPicPr>
          <p:cNvPr id="4" name="Picture 3" descr="avg_req_award_other_funding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669280" cy="3317839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0" y="1554480"/>
          <a:ext cx="256031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439"/>
                <a:gridCol w="853439"/>
                <a:gridCol w="853439"/>
              </a:tblGrid>
              <a:tr h="1219200">
                <a:tc>
                  <a:txBody>
                    <a:bodyPr/>
                    <a:lstStyle/>
                    <a:p>
                      <a:pPr algn="ctr">
                        <a:defRPr b="1" sz="1000"/>
                      </a:pPr>
                      <a:r>
                        <a:t>has_other_funding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000"/>
                      </a:pPr>
                      <a:r>
                        <a:t>amount_requested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000"/>
                      </a:pPr>
                      <a:r>
                        <a:t>amount_awarded</a:t>
                      </a:r>
                    </a:p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2250.0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1250.0</a:t>
                      </a:r>
                    </a:p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3833.33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2500.0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Top 5 Organizations Summary</a:t>
            </a:r>
          </a:p>
        </p:txBody>
      </p:sp>
      <p:pic>
        <p:nvPicPr>
          <p:cNvPr id="4" name="Picture 3" descr="top_5_organization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28226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